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2025年</c:v>
                </c:pt>
              </c:strCache>
            </c:strRef>
          </c:tx>
          <c:spPr>
            <a:solidFill>
              <a:srgbClr val="2D8B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404040"/>
                    </a:solidFill>
                    <a:latin typeface="微软雅黑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华东</c:v>
                  </c:pt>
                  <c:pt idx="1">
                    <c:v>华南</c:v>
                  </c:pt>
                  <c:pt idx="2">
                    <c:v>华北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500</c:v>
                </c:pt>
                <c:pt idx="1">
                  <c:v>360</c:v>
                </c:pt>
                <c:pt idx="2">
                  <c:v>210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2026年</c:v>
                </c:pt>
              </c:strCache>
            </c:strRef>
          </c:tx>
          <c:spPr>
            <a:solidFill>
              <a:srgbClr val="A8DA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404040"/>
                    </a:solidFill>
                    <a:latin typeface="微软雅黑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华东</c:v>
                  </c:pt>
                  <c:pt idx="1">
                    <c:v>华南</c:v>
                  </c:pt>
                  <c:pt idx="2">
                    <c:v>华北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612</c:v>
                </c:pt>
                <c:pt idx="1">
                  <c:v>418</c:v>
                </c:pt>
                <c:pt idx="2">
                  <c:v>206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404040"/>
                  </a:solidFill>
                  <a:latin typeface="微软雅黑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微软雅黑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latin typeface="微软雅黑"/>
              <a:cs typeface="微软雅黑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重点讲华东增长的原因：年框客户落地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429000"/>
            <a:ext cx="1280160" cy="64008"/>
          </a:xfrm>
          <a:prstGeom prst="rect">
            <a:avLst/>
          </a:prstGeom>
          <a:solidFill>
            <a:srgbClr val="2D8B8B"/>
          </a:solidFill>
          <a:ln w="12700">
            <a:solidFill>
              <a:srgbClr val="2D8B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828800"/>
            <a:ext cx="10728655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2026 年第三季度经营汇报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3657600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CEFE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市场部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5760720"/>
            <a:ext cx="1072865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CEFE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2026 年 10 月 15 日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2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566160"/>
            <a:ext cx="1097280" cy="54864"/>
          </a:xfrm>
          <a:prstGeom prst="rect">
            <a:avLst/>
          </a:prstGeom>
          <a:solidFill>
            <a:srgbClr val="2D8B8B"/>
          </a:solidFill>
          <a:ln w="12700">
            <a:solidFill>
              <a:srgbClr val="2D8B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2103120"/>
            <a:ext cx="10728655" cy="137160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第一部分 业绩回顾</a:t>
            </a:r>
            <a:endParaRPr lang="en-US" sz="3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1FA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D8B8B"/>
          </a:solidFill>
          <a:ln w="12700">
            <a:solidFill>
              <a:srgbClr val="2D8B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A23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核心数据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11094415" cy="0"/>
          </a:xfrm>
          <a:prstGeom prst="line">
            <a:avLst/>
          </a:prstGeom>
          <a:noFill/>
          <a:ln w="19050">
            <a:solidFill>
              <a:srgbClr val="DCEFE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920240"/>
            <a:ext cx="3515258" cy="2926080"/>
          </a:xfrm>
          <a:prstGeom prst="roundRect">
            <a:avLst>
              <a:gd name="adj" fmla="val 2500"/>
            </a:avLst>
          </a:prstGeom>
          <a:solidFill>
            <a:srgbClr val="DCEFEF"/>
          </a:solidFill>
          <a:ln w="12700">
            <a:solidFill>
              <a:srgbClr val="DCEFE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286000"/>
            <a:ext cx="3515258" cy="11887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8B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1,236 万元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31520" y="3566160"/>
            <a:ext cx="314949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A23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季度销售额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338218" y="1920240"/>
            <a:ext cx="3515258" cy="2926080"/>
          </a:xfrm>
          <a:prstGeom prst="roundRect">
            <a:avLst>
              <a:gd name="adj" fmla="val 2500"/>
            </a:avLst>
          </a:prstGeom>
          <a:solidFill>
            <a:srgbClr val="DCEFEF"/>
          </a:solidFill>
          <a:ln w="12700">
            <a:solidFill>
              <a:srgbClr val="DCEFE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38218" y="2286000"/>
            <a:ext cx="3515258" cy="11887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8B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35 家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4521098" y="3566160"/>
            <a:ext cx="314949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A23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新签客户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127797" y="1920240"/>
            <a:ext cx="3515258" cy="2926080"/>
          </a:xfrm>
          <a:prstGeom prst="roundRect">
            <a:avLst>
              <a:gd name="adj" fmla="val 2500"/>
            </a:avLst>
          </a:prstGeom>
          <a:solidFill>
            <a:srgbClr val="DCEFEF"/>
          </a:solidFill>
          <a:ln w="12700">
            <a:solidFill>
              <a:srgbClr val="DCEFE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27797" y="2286000"/>
            <a:ext cx="3515258" cy="11887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8B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92%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8310677" y="3566160"/>
            <a:ext cx="314949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A23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客户续约率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C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1FA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D8B8B"/>
          </a:solidFill>
          <a:ln w="12700">
            <a:solidFill>
              <a:srgbClr val="2D8B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A23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区域业绩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11094415" cy="0"/>
          </a:xfrm>
          <a:prstGeom prst="line">
            <a:avLst/>
          </a:prstGeom>
          <a:noFill/>
          <a:ln w="19050">
            <a:solidFill>
              <a:srgbClr val="DCEFEF"/>
            </a:solidFill>
            <a:prstDash val="solid"/>
          </a:ln>
        </p:spPr>
      </p:sp>
      <p:graphicFrame>
        <p:nvGraphicFramePr>
          <p:cNvPr id="5" name="Chart 0" descr=""/>
          <p:cNvGraphicFramePr/>
          <p:nvPr/>
        </p:nvGraphicFramePr>
        <p:xfrm>
          <a:off x="548640" y="1417320"/>
          <a:ext cx="749808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8321040" y="1645920"/>
            <a:ext cx="3322015" cy="43891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254000" indent="-254000">
              <a:spcAft>
                <a:spcPts val="1000"/>
              </a:spcAft>
              <a:buSzPct val="100000"/>
              <a:buChar char="■"/>
            </a:pPr>
            <a:r>
              <a:rPr lang="en-US" sz="1500" dirty="0">
                <a:solidFill>
                  <a:srgbClr val="1F232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华东同比增长 22%，华北略有下滑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C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1FA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D8B8B"/>
          </a:solidFill>
          <a:ln w="12700">
            <a:solidFill>
              <a:srgbClr val="2D8B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A23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主要工作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11094415" cy="0"/>
          </a:xfrm>
          <a:prstGeom prst="line">
            <a:avLst/>
          </a:prstGeom>
          <a:noFill/>
          <a:ln w="19050">
            <a:solidFill>
              <a:srgbClr val="DCEFE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463040"/>
            <a:ext cx="10728655" cy="4846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30200" indent="-330200">
              <a:lnSpc>
                <a:spcPct val="115000"/>
              </a:lnSpc>
              <a:buSzPct val="100000"/>
              <a:buChar char="■"/>
            </a:pPr>
            <a:r>
              <a:rPr lang="en-US" sz="2600" dirty="0">
                <a:solidFill>
                  <a:srgbClr val="1F232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签约 3 家年框客户，合同总额 380 万元</a:t>
            </a:r>
            <a:endParaRPr lang="en-US" sz="2600" dirty="0"/>
          </a:p>
          <a:p>
            <a:pPr marL="330200" indent="-330200">
              <a:lnSpc>
                <a:spcPct val="115000"/>
              </a:lnSpc>
              <a:spcBef>
                <a:spcPts val="1600"/>
              </a:spcBef>
              <a:buSzPct val="100000"/>
              <a:buChar char="■"/>
            </a:pPr>
            <a:r>
              <a:rPr lang="en-US" sz="2600" dirty="0">
                <a:solidFill>
                  <a:srgbClr val="1F232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新增区域代理 6 家，覆盖 4 个新城市</a:t>
            </a:r>
            <a:endParaRPr lang="en-US" sz="2600" dirty="0"/>
          </a:p>
          <a:p>
            <a:pPr marL="330200" indent="-330200">
              <a:lnSpc>
                <a:spcPct val="115000"/>
              </a:lnSpc>
              <a:spcBef>
                <a:spcPts val="1600"/>
              </a:spcBef>
              <a:buSzPct val="100000"/>
              <a:buChar char="■"/>
            </a:pPr>
            <a:r>
              <a:rPr lang="en-US" sz="2600" dirty="0">
                <a:solidFill>
                  <a:srgbClr val="1F232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智能终端产品线上市</a:t>
            </a:r>
            <a:endParaRPr lang="en-US" sz="2600" dirty="0"/>
          </a:p>
          <a:p>
            <a:pPr lvl="1" marL="660400" indent="-330200">
              <a:lnSpc>
                <a:spcPct val="115000"/>
              </a:lnSpc>
              <a:buSzPct val="100000"/>
              <a:buChar char="•"/>
            </a:pPr>
            <a:r>
              <a:rPr lang="en-US" sz="2200" dirty="0">
                <a:solidFill>
                  <a:srgbClr val="59595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完成目标的 64%，需加强推广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C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2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566160"/>
            <a:ext cx="1097280" cy="54864"/>
          </a:xfrm>
          <a:prstGeom prst="rect">
            <a:avLst/>
          </a:prstGeom>
          <a:solidFill>
            <a:srgbClr val="2D8B8B"/>
          </a:solidFill>
          <a:ln w="12700">
            <a:solidFill>
              <a:srgbClr val="2D8B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2103120"/>
            <a:ext cx="10728655" cy="137160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第二部分 下一步计划</a:t>
            </a:r>
            <a:endParaRPr lang="en-US" sz="3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1FA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D8B8B"/>
          </a:solidFill>
          <a:ln w="12700">
            <a:solidFill>
              <a:srgbClr val="2D8B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A23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两种推广方案对比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11094415" cy="0"/>
          </a:xfrm>
          <a:prstGeom prst="line">
            <a:avLst/>
          </a:prstGeom>
          <a:noFill/>
          <a:ln w="19050">
            <a:solidFill>
              <a:srgbClr val="DCEFE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5410048" cy="548640"/>
          </a:xfrm>
          <a:prstGeom prst="rect">
            <a:avLst/>
          </a:prstGeom>
          <a:solidFill>
            <a:srgbClr val="2D8B8B"/>
          </a:solidFill>
          <a:ln w="12700">
            <a:solidFill>
              <a:srgbClr val="2D8B8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508760"/>
            <a:ext cx="54100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方案 A：自建团队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48640" y="2194560"/>
            <a:ext cx="5410048" cy="1591056"/>
          </a:xfrm>
          <a:prstGeom prst="rect">
            <a:avLst/>
          </a:prstGeom>
          <a:solidFill>
            <a:srgbClr val="DCEFEF"/>
          </a:solidFill>
          <a:ln/>
        </p:spPr>
        <p:txBody>
          <a:bodyPr wrap="square" lIns="177800" tIns="177800" rIns="177800" bIns="177800" rtlCol="0" anchor="t"/>
          <a:lstStyle/>
          <a:p>
            <a:pPr marL="330200" indent="-330200">
              <a:buSzPct val="100000"/>
              <a:buChar char="■"/>
            </a:pPr>
            <a:r>
              <a:rPr lang="en-US" sz="2000" dirty="0">
                <a:solidFill>
                  <a:srgbClr val="1F232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可控性强，客户关系留在公司</a:t>
            </a:r>
            <a:endParaRPr lang="en-US" sz="2000" dirty="0"/>
          </a:p>
          <a:p>
            <a:pPr marL="330200" indent="-330200">
              <a:spcBef>
                <a:spcPts val="1200"/>
              </a:spcBef>
              <a:buSzPct val="100000"/>
              <a:buChar char="■"/>
            </a:pPr>
            <a:r>
              <a:rPr lang="en-US" sz="2000" dirty="0">
                <a:solidFill>
                  <a:srgbClr val="1F232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人员成本每季度约 60 万元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233008" y="1508760"/>
            <a:ext cx="5410048" cy="548640"/>
          </a:xfrm>
          <a:prstGeom prst="rect">
            <a:avLst/>
          </a:prstGeom>
          <a:solidFill>
            <a:srgbClr val="A8DADC"/>
          </a:solidFill>
          <a:ln w="12700">
            <a:solidFill>
              <a:srgbClr val="A8DA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33008" y="1508760"/>
            <a:ext cx="54100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方案 B：代理商合作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233008" y="2194560"/>
            <a:ext cx="5410048" cy="1591056"/>
          </a:xfrm>
          <a:prstGeom prst="rect">
            <a:avLst/>
          </a:prstGeom>
          <a:solidFill>
            <a:srgbClr val="DCEFEF"/>
          </a:solidFill>
          <a:ln/>
        </p:spPr>
        <p:txBody>
          <a:bodyPr wrap="square" lIns="177800" tIns="177800" rIns="177800" bIns="177800" rtlCol="0" anchor="t"/>
          <a:lstStyle/>
          <a:p>
            <a:pPr marL="330200" indent="-330200">
              <a:buSzPct val="100000"/>
              <a:buChar char="■"/>
            </a:pPr>
            <a:r>
              <a:rPr lang="en-US" sz="2000" dirty="0">
                <a:solidFill>
                  <a:srgbClr val="1F232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上线快，覆盖面广</a:t>
            </a:r>
            <a:endParaRPr lang="en-US" sz="2000" dirty="0"/>
          </a:p>
          <a:p>
            <a:pPr marL="330200" indent="-330200">
              <a:spcBef>
                <a:spcPts val="1200"/>
              </a:spcBef>
              <a:buSzPct val="100000"/>
              <a:buChar char="■"/>
            </a:pPr>
            <a:r>
              <a:rPr lang="en-US" sz="2000" dirty="0">
                <a:solidFill>
                  <a:srgbClr val="1F232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毛利让渡约 15%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C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1FA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D8B8B"/>
          </a:solidFill>
          <a:ln w="12700">
            <a:solidFill>
              <a:srgbClr val="2D8B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A23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第四季度重点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11094415" cy="0"/>
          </a:xfrm>
          <a:prstGeom prst="line">
            <a:avLst/>
          </a:prstGeom>
          <a:noFill/>
          <a:ln w="19050">
            <a:solidFill>
              <a:srgbClr val="DCEFEF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2218883"/>
                <a:gridCol w="4067952"/>
                <a:gridCol w="1479255"/>
                <a:gridCol w="3328325"/>
              </a:tblGrid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工作事项</a:t>
                      </a:r>
                      <a:endParaRPr lang="en-US" sz="16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8B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目标</a:t>
                      </a:r>
                      <a:endParaRPr lang="en-US" sz="16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8B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负责人</a:t>
                      </a:r>
                      <a:endParaRPr lang="en-US" sz="16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8B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完成时间</a:t>
                      </a:r>
                      <a:endParaRPr lang="en-US" sz="16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8B8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32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回款专项清收</a:t>
                      </a:r>
                      <a:endParaRPr lang="en-US" sz="16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32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回款天数降到 </a:t>
                      </a:r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32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55 </a:t>
                      </a:r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32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天</a:t>
                      </a:r>
                      <a:endParaRPr lang="en-US" sz="16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32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王敏</a:t>
                      </a:r>
                      <a:endParaRPr lang="en-US" sz="16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32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12 </a:t>
                      </a:r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32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月 </a:t>
                      </a:r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32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15 </a:t>
                      </a:r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32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日</a:t>
                      </a:r>
                      <a:endParaRPr lang="en-US" sz="16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32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智能终端推广</a:t>
                      </a:r>
                      <a:endParaRPr lang="en-US" sz="16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32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完成 </a:t>
                      </a:r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32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300 </a:t>
                      </a:r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32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万元</a:t>
                      </a:r>
                      <a:endParaRPr lang="en-US" sz="16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32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李强</a:t>
                      </a:r>
                      <a:endParaRPr lang="en-US" sz="16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32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12 </a:t>
                      </a:r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32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月 </a:t>
                      </a:r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32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31 </a:t>
                      </a:r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32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日</a:t>
                      </a:r>
                      <a:endParaRPr lang="en-US" sz="16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C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2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566160"/>
            <a:ext cx="1097280" cy="54864"/>
          </a:xfrm>
          <a:prstGeom prst="rect">
            <a:avLst/>
          </a:prstGeom>
          <a:solidFill>
            <a:srgbClr val="2D8B8B"/>
          </a:solidFill>
          <a:ln w="12700">
            <a:solidFill>
              <a:srgbClr val="2D8B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2103120"/>
            <a:ext cx="10728655" cy="137160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谢谢</a:t>
            </a:r>
            <a:endParaRPr lang="en-US" sz="4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经营汇报</dc:title>
  <dc:subject>PptxGenJS Presentation</dc:subject>
  <dc:creator>贾维斯</dc:creator>
  <cp:lastModifiedBy>贾维斯</cp:lastModifiedBy>
  <cp:revision>1</cp:revision>
  <dcterms:created xsi:type="dcterms:W3CDTF">2026-10-15T01:33:57Z</dcterms:created>
  <dcterms:modified xsi:type="dcterms:W3CDTF">2026-10-15T01:33:57Z</dcterms:modified>
</cp:coreProperties>
</file>