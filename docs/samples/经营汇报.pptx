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2D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华东</c:v>
                  </c:pt>
                  <c:pt idx="1">
                    <c:v>华南</c:v>
                  </c:pt>
                  <c:pt idx="2">
                    <c:v>华北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360</c:v>
                </c:pt>
                <c:pt idx="2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A8DA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华东</c:v>
                  </c:pt>
                  <c:pt idx="1">
                    <c:v>华南</c:v>
                  </c:pt>
                  <c:pt idx="2">
                    <c:v>华北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612</c:v>
                </c:pt>
                <c:pt idx="1">
                  <c:v>418</c:v>
                </c:pt>
                <c:pt idx="2">
                  <c:v>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重点讲华东增长的原因：年框客户落地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29000"/>
            <a:ext cx="1280160" cy="640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年第三季度经营汇报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F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F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 15 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566160"/>
            <a:ext cx="1097280" cy="5486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第一部分 业绩回顾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核心数据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9050">
            <a:solidFill>
              <a:srgbClr val="DCEF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3515258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1,236 万元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14949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季度销售额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8218" y="19202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8218" y="2286000"/>
            <a:ext cx="3515258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 家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1098" y="3566160"/>
            <a:ext cx="314949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新签客户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19202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797" y="2286000"/>
            <a:ext cx="3515258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8B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10677" y="3566160"/>
            <a:ext cx="314949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客户续约率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区域业绩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9050">
            <a:solidFill>
              <a:srgbClr val="DCEFEF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645920"/>
            <a:ext cx="332201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华东同比增长 22%，华北略有下滑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主要工作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9050">
            <a:solidFill>
              <a:srgbClr val="DCEF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30200" indent="-330200">
              <a:lnSpc>
                <a:spcPct val="115000"/>
              </a:lnSpc>
              <a:buSzPct val="100000"/>
              <a:buChar char="■"/>
            </a:pPr>
            <a:r>
              <a:rPr lang="en-US" sz="22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 3 家年框客户，合同总额 380 万元</a:t>
            </a:r>
            <a:endParaRPr lang="en-US" sz="2200" dirty="0"/>
          </a:p>
          <a:p>
            <a:pPr marL="330200" indent="-330200">
              <a:lnSpc>
                <a:spcPct val="115000"/>
              </a:lnSpc>
              <a:spcBef>
                <a:spcPts val="1300"/>
              </a:spcBef>
              <a:buSzPct val="100000"/>
              <a:buChar char="■"/>
            </a:pPr>
            <a:r>
              <a:rPr lang="en-US" sz="22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新增区域代理 6 家，覆盖 4 个新城市</a:t>
            </a:r>
            <a:endParaRPr lang="en-US" sz="2200" dirty="0"/>
          </a:p>
          <a:p>
            <a:pPr marL="330200" indent="-330200">
              <a:lnSpc>
                <a:spcPct val="115000"/>
              </a:lnSpc>
              <a:spcBef>
                <a:spcPts val="1300"/>
              </a:spcBef>
              <a:buSzPct val="100000"/>
              <a:buChar char="■"/>
            </a:pPr>
            <a:r>
              <a:rPr lang="en-US" sz="22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智能终端产品线上市</a:t>
            </a:r>
            <a:endParaRPr lang="en-US" sz="2200" dirty="0"/>
          </a:p>
          <a:p>
            <a:pPr lvl="1" marL="660400" indent="-3302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完成目标的 64%，需加强推广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566160"/>
            <a:ext cx="1097280" cy="5486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第二部分 下一步计划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两种推广方案对比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9050">
            <a:solidFill>
              <a:srgbClr val="DCEF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10048" cy="5486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41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A：自建团队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10048" cy="1591056"/>
          </a:xfrm>
          <a:prstGeom prst="rect">
            <a:avLst/>
          </a:prstGeom>
          <a:solidFill>
            <a:srgbClr val="DCEFEF"/>
          </a:solidFill>
          <a:ln/>
        </p:spPr>
        <p:txBody>
          <a:bodyPr wrap="square" lIns="177800" tIns="177800" rIns="177800" bIns="177800" rtlCol="0" anchor="t"/>
          <a:lstStyle/>
          <a:p>
            <a:pPr marL="330200" indent="-330200">
              <a:buSzPct val="100000"/>
              <a:buChar char="■"/>
            </a:pPr>
            <a:r>
              <a:rPr lang="en-US" sz="20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可控性强，客户关系留在公司</a:t>
            </a:r>
            <a:endParaRPr lang="en-US" sz="2000" dirty="0"/>
          </a:p>
          <a:p>
            <a:pPr marL="330200" indent="-330200">
              <a:spcBef>
                <a:spcPts val="1200"/>
              </a:spcBef>
              <a:buSzPct val="100000"/>
              <a:buChar char="■"/>
            </a:pPr>
            <a:r>
              <a:rPr lang="en-US" sz="20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人员成本每季度约 60 万元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33008" y="1508760"/>
            <a:ext cx="5410048" cy="54864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3008" y="1508760"/>
            <a:ext cx="541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B：代理商合作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33008" y="2194560"/>
            <a:ext cx="5410048" cy="1591056"/>
          </a:xfrm>
          <a:prstGeom prst="rect">
            <a:avLst/>
          </a:prstGeom>
          <a:solidFill>
            <a:srgbClr val="DCEFEF"/>
          </a:solidFill>
          <a:ln/>
        </p:spPr>
        <p:txBody>
          <a:bodyPr wrap="square" lIns="177800" tIns="177800" rIns="177800" bIns="177800" rtlCol="0" anchor="t"/>
          <a:lstStyle/>
          <a:p>
            <a:pPr marL="330200" indent="-330200">
              <a:buSzPct val="100000"/>
              <a:buChar char="■"/>
            </a:pPr>
            <a:r>
              <a:rPr lang="en-US" sz="20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上线快，覆盖面广</a:t>
            </a:r>
            <a:endParaRPr lang="en-US" sz="2000" dirty="0"/>
          </a:p>
          <a:p>
            <a:pPr marL="330200" indent="-330200">
              <a:spcBef>
                <a:spcPts val="1200"/>
              </a:spcBef>
              <a:buSzPct val="100000"/>
              <a:buChar char="■"/>
            </a:pPr>
            <a:r>
              <a:rPr lang="en-US" sz="2000" dirty="0">
                <a:solidFill>
                  <a:srgbClr val="1F23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毛利让渡约 15%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第四季度重点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9050">
            <a:solidFill>
              <a:srgbClr val="DCEFE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工作事项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负责人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完成时间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回款专项清收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回款天数降到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55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王敏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月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智能终端推广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万元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李强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月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566160"/>
            <a:ext cx="1097280" cy="5486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经营汇报</dc:title>
  <dc:subject>PptxGenJS Presentation</dc:subject>
  <dc:creator>贾维斯</dc:creator>
  <cp:lastModifiedBy>贾维斯</cp:lastModifiedBy>
  <cp:revision>1</cp:revision>
  <dcterms:created xsi:type="dcterms:W3CDTF">2026-10-15T01:11:41Z</dcterms:created>
  <dcterms:modified xsi:type="dcterms:W3CDTF">2026-10-15T01:11:41Z</dcterms:modified>
</cp:coreProperties>
</file>